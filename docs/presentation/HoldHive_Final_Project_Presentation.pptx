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6b1afeb9da4e4d" /><Relationship Type="http://schemas.openxmlformats.org/officeDocument/2006/relationships/extended-properties" Target="/docProps/app.xml" Id="R787c8fafc9334e42" /><Relationship Type="http://schemas.openxmlformats.org/officeDocument/2006/relationships/officeDocument" Target="/ppt/presentation.xml" Id="R761e47e47c1f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f6adf215a43de"/>
  </p:sldMasterIdLst>
  <p:notesMasterIdLst>
    <p:notesMasterId xmlns:r="http://schemas.openxmlformats.org/officeDocument/2006/relationships" r:id="R98c2153434d64601"/>
  </p:notesMasterIdLst>
  <p:sldIdLst>
    <p:sldId xmlns:r="http://schemas.openxmlformats.org/officeDocument/2006/relationships" id="256" r:id="Rad40524ffaf047c7"/>
    <p:sldId xmlns:r="http://schemas.openxmlformats.org/officeDocument/2006/relationships" id="257" r:id="Re0e0853221fe4062"/>
    <p:sldId xmlns:r="http://schemas.openxmlformats.org/officeDocument/2006/relationships" id="258" r:id="Rfa04c8791fae4ec6"/>
    <p:sldId xmlns:r="http://schemas.openxmlformats.org/officeDocument/2006/relationships" id="259" r:id="Rfa3aef62a1454bf1"/>
    <p:sldId xmlns:r="http://schemas.openxmlformats.org/officeDocument/2006/relationships" id="260" r:id="R68b643969335446d"/>
    <p:sldId xmlns:r="http://schemas.openxmlformats.org/officeDocument/2006/relationships" id="261" r:id="Rc38c8ff35dae49d3"/>
    <p:sldId xmlns:r="http://schemas.openxmlformats.org/officeDocument/2006/relationships" id="262" r:id="Rc53bff4c5a37453f"/>
    <p:sldId xmlns:r="http://schemas.openxmlformats.org/officeDocument/2006/relationships" id="263" r:id="R828ee9b9c4cc49cd"/>
    <p:sldId xmlns:r="http://schemas.openxmlformats.org/officeDocument/2006/relationships" id="264" r:id="R9c2d86a8ef254ef2"/>
    <p:sldId xmlns:r="http://schemas.openxmlformats.org/officeDocument/2006/relationships" id="265" r:id="R19dfe723905b4a2e"/>
    <p:sldId xmlns:r="http://schemas.openxmlformats.org/officeDocument/2006/relationships" id="266" r:id="Re8699e6a009c4b86"/>
    <p:sldId xmlns:r="http://schemas.openxmlformats.org/officeDocument/2006/relationships" id="267" r:id="Rd27f2371e59e4e9c"/>
    <p:sldId xmlns:r="http://schemas.openxmlformats.org/officeDocument/2006/relationships" id="268" r:id="R86954a091ace4d08"/>
    <p:sldId xmlns:r="http://schemas.openxmlformats.org/officeDocument/2006/relationships" id="269" r:id="R9d1f4a102b624ab7"/>
    <p:sldId xmlns:r="http://schemas.openxmlformats.org/officeDocument/2006/relationships" id="270" r:id="R00324710025045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045f2c31d940ca" /><Relationship Type="http://schemas.openxmlformats.org/officeDocument/2006/relationships/slideMaster" Target="/ppt/slideMasters/slideMaster1.xml" Id="Ref9f6adf215a43de" /><Relationship Type="http://schemas.openxmlformats.org/officeDocument/2006/relationships/notesMaster" Target="/ppt/notesMasters/notesMaster1.xml" Id="R98c2153434d64601" /><Relationship Type="http://schemas.openxmlformats.org/officeDocument/2006/relationships/presProps" Target="/ppt/presProps.xml" Id="Rad478f5d075d4d48" /><Relationship Type="http://schemas.openxmlformats.org/officeDocument/2006/relationships/tableStyles" Target="/ppt/tableStyles.xml" Id="R3e44437a5f7447f2" /><Relationship Type="http://schemas.openxmlformats.org/officeDocument/2006/relationships/slide" Target="/ppt/slides/slide1.xml" Id="Rad40524ffaf047c7" /><Relationship Type="http://schemas.openxmlformats.org/officeDocument/2006/relationships/slide" Target="/ppt/slides/slide2.xml" Id="Re0e0853221fe4062" /><Relationship Type="http://schemas.openxmlformats.org/officeDocument/2006/relationships/slide" Target="/ppt/slides/slide3.xml" Id="Rfa04c8791fae4ec6" /><Relationship Type="http://schemas.openxmlformats.org/officeDocument/2006/relationships/slide" Target="/ppt/slides/slide4.xml" Id="Rfa3aef62a1454bf1" /><Relationship Type="http://schemas.openxmlformats.org/officeDocument/2006/relationships/slide" Target="/ppt/slides/slide5.xml" Id="R68b643969335446d" /><Relationship Type="http://schemas.openxmlformats.org/officeDocument/2006/relationships/slide" Target="/ppt/slides/slide6.xml" Id="Rc38c8ff35dae49d3" /><Relationship Type="http://schemas.openxmlformats.org/officeDocument/2006/relationships/slide" Target="/ppt/slides/slide7.xml" Id="Rc53bff4c5a37453f" /><Relationship Type="http://schemas.openxmlformats.org/officeDocument/2006/relationships/slide" Target="/ppt/slides/slide8.xml" Id="R828ee9b9c4cc49cd" /><Relationship Type="http://schemas.openxmlformats.org/officeDocument/2006/relationships/slide" Target="/ppt/slides/slide9.xml" Id="R9c2d86a8ef254ef2" /><Relationship Type="http://schemas.openxmlformats.org/officeDocument/2006/relationships/slide" Target="/ppt/slides/slide10.xml" Id="R19dfe723905b4a2e" /><Relationship Type="http://schemas.openxmlformats.org/officeDocument/2006/relationships/slide" Target="/ppt/slides/slide11.xml" Id="Re8699e6a009c4b86" /><Relationship Type="http://schemas.openxmlformats.org/officeDocument/2006/relationships/slide" Target="/ppt/slides/slide12.xml" Id="Rd27f2371e59e4e9c" /><Relationship Type="http://schemas.openxmlformats.org/officeDocument/2006/relationships/slide" Target="/ppt/slides/slide13.xml" Id="R86954a091ace4d08" /><Relationship Type="http://schemas.openxmlformats.org/officeDocument/2006/relationships/slide" Target="/ppt/slides/slide14.xml" Id="R9d1f4a102b624ab7" /><Relationship Type="http://schemas.openxmlformats.org/officeDocument/2006/relationships/slide" Target="/ppt/slides/slide15.xml" Id="R00324710025045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295ff9381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9e3c8094234fb9" /><Relationship Type="http://schemas.openxmlformats.org/officeDocument/2006/relationships/notesMaster" Target="/ppt/notesMasters/notesMaster1.xml" Id="R294ccca705f2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f88a8557084626" /><Relationship Type="http://schemas.openxmlformats.org/officeDocument/2006/relationships/notesMaster" Target="/ppt/notesMasters/notesMaster1.xml" Id="Re4dca282475e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924b43534d4e51" /><Relationship Type="http://schemas.openxmlformats.org/officeDocument/2006/relationships/notesMaster" Target="/ppt/notesMasters/notesMaster1.xml" Id="R305ba3de769a4d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0fad917714d8c" /><Relationship Type="http://schemas.openxmlformats.org/officeDocument/2006/relationships/notesMaster" Target="/ppt/notesMasters/notesMaster1.xml" Id="R96ca6a35803542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a7a0833c394a81" /><Relationship Type="http://schemas.openxmlformats.org/officeDocument/2006/relationships/notesMaster" Target="/ppt/notesMasters/notesMaster1.xml" Id="R6c5dcf9e271446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3a4645e184050" /><Relationship Type="http://schemas.openxmlformats.org/officeDocument/2006/relationships/notesMaster" Target="/ppt/notesMasters/notesMaster1.xml" Id="R42e52ef31b3a42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7ca02875f84750" /><Relationship Type="http://schemas.openxmlformats.org/officeDocument/2006/relationships/notesMaster" Target="/ppt/notesMasters/notesMaster1.xml" Id="Rea8706aa94c14a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519c13e48c4690" /><Relationship Type="http://schemas.openxmlformats.org/officeDocument/2006/relationships/notesMaster" Target="/ppt/notesMasters/notesMaster1.xml" Id="R4ba289d1927f49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a3d48e9c5f4cd4" /><Relationship Type="http://schemas.openxmlformats.org/officeDocument/2006/relationships/notesMaster" Target="/ppt/notesMasters/notesMaster1.xml" Id="R70ed5bbca5854a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d09b33acf14e42" /><Relationship Type="http://schemas.openxmlformats.org/officeDocument/2006/relationships/notesMaster" Target="/ppt/notesMasters/notesMaster1.xml" Id="R9fa40607b2584f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52b24b586746b8" /><Relationship Type="http://schemas.openxmlformats.org/officeDocument/2006/relationships/notesMaster" Target="/ppt/notesMasters/notesMaster1.xml" Id="Rf9b43c16aa664e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4420c139314a20" /><Relationship Type="http://schemas.openxmlformats.org/officeDocument/2006/relationships/notesMaster" Target="/ppt/notesMasters/notesMaster1.xml" Id="R5d1632cb667347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3aa4c65ee24c3e" /><Relationship Type="http://schemas.openxmlformats.org/officeDocument/2006/relationships/notesMaster" Target="/ppt/notesMasters/notesMaster1.xml" Id="R0671c23b45974a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04c65ca39b4d76" /><Relationship Type="http://schemas.openxmlformats.org/officeDocument/2006/relationships/notesMaster" Target="/ppt/notesMasters/notesMaster1.xml" Id="Ree9aa48702c94d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173a1d058d4f88" /><Relationship Type="http://schemas.openxmlformats.org/officeDocument/2006/relationships/notesMaster" Target="/ppt/notesMasters/notesMaster1.xml" Id="Rc095827d8e0a4b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beat: set the expectation that this deck tells how the team turned a broad portfolio-management assignment into a focused, explainable MVP. Do not start by listing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docs/guideline/project/team_project_guideline_zh.md</a:t>
            </a:r>
          </a:p>
          <a:p xmlns:a="http://schemas.openxmlformats.org/drawingml/2006/main">
            <a:r>
              <a:t>- docs/guideline/references/team-project-rules-process.pdf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explicitly ties the deck to the required presentation style: light slides, one key idea, visuals over dense text, and a story that includes mistakes. It also sets up why Git, bugs, and team learning are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docs/guideline/references/team-project-rules-process.pdf</a:t>
            </a:r>
          </a:p>
          <a:p xmlns:a="http://schemas.openxmlformats.org/drawingml/2006/main">
            <a:r>
              <a:t>- docs/guideline/references/portfolio_manager.md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Alex's story: scattered apps provide price facts, but not the combined view. The user need becomes: what do I own, what is it worth, and where am I concentrated?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docs/guideline/project/team_project_guideline_zh.md</a:t>
            </a:r>
          </a:p>
          <a:p xmlns:a="http://schemas.openxmlformats.org/drawingml/2006/main">
            <a:r>
              <a:t>- docs/guideline/references/portfolio_manager.md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User Stories central. Explain that HH-01 to HH-06 formed the P0 backbone: browse, add, delete, summary, allocation, and data trust. HH-10 made fund warnings visible without forcing full lookthrough into P0.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docs/guideline/project/team_project_guideline_zh.md</a:t>
            </a:r>
          </a:p>
          <a:p xmlns:a="http://schemas.openxmlformats.org/drawingml/2006/main">
            <a:r>
              <a:t>- docs/guideline/project/api_documentation_zh.md</a:t>
            </a:r>
          </a:p>
          <a:p xmlns:a="http://schemas.openxmlformats.org/drawingml/2006/main">
            <a:r>
              <a:t>- docs/qa/acceptance-checklist.md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product design to the user stories. The dashboard screenshot should carry most of the page. Explain that the design borrowed mature portfolio-product patterns but intentionally kept the first experience narrow.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docs/guideline/project/team_project_guideline_zh.md</a:t>
            </a:r>
          </a:p>
          <a:p xmlns:a="http://schemas.openxmlformats.org/drawingml/2006/main">
            <a:r>
              <a:t>- docs/design/lanhu/README.md</a:t>
            </a:r>
          </a:p>
          <a:p xmlns:a="http://schemas.openxmlformats.org/drawingml/2006/main">
            <a:r>
              <a:t>- docs/design/lanhu/png/02-dashboard-dark.png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covers technology selection without drowning the audience in details. Explain that the team chose a stack two or more members could learn and explain, and wrote the decision into ADR-001.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docs/guideline/project/technology_stack_zh.md</a:t>
            </a:r>
          </a:p>
          <a:p xmlns:a="http://schemas.openxmlformats.org/drawingml/2006/main">
            <a:r>
              <a:t>- docs/adr/ADR-001-technology-stack.md</a:t>
            </a:r>
          </a:p>
          <a:p xmlns:a="http://schemas.openxmlformats.org/drawingml/2006/main">
            <a:r>
              <a:t>- docs/guideline/references/team-project-rules-process.pdf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high-level architecture required by the project presentation. Keep it simple: user interface, REST contract, domain calculation, persistence, and pricing adapter. Mention that this is a modular monolith, not microservices.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docs/architecture/c4-context.md</a:t>
            </a:r>
          </a:p>
          <a:p xmlns:a="http://schemas.openxmlformats.org/drawingml/2006/main">
            <a:r>
              <a:t>- docs/guideline/project/technology_stack_zh.md</a:t>
            </a:r>
          </a:p>
          <a:p xmlns:a="http://schemas.openxmlformats.org/drawingml/2006/main">
            <a:r>
              <a:t>- frontend/src/api/README.md</a:t>
            </a:r>
          </a:p>
          <a:p xmlns:a="http://schemas.openxmlformats.org/drawingml/2006/main">
            <a:r>
              <a:t>- backend/src/main/java/com/holdhive/portfolio/domain/PortfolioCalculator.java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tells the planning-to-delivery story. Tie it back to the course guidance: do not jump into code on day one, surface blockers early, and leave time for rehearsal.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docs/guideline/project/team_project_guideline_zh.md</a:t>
            </a:r>
          </a:p>
          <a:p xmlns:a="http://schemas.openxmlformats.org/drawingml/2006/main">
            <a:r>
              <a:t>- docs/guideline/references/team-project-rules-process.pdf</a:t>
            </a:r>
          </a:p>
          <a:p xmlns:a="http://schemas.openxmlformats.org/drawingml/2006/main">
            <a:r>
              <a:t>- docs/guideline/project/git_branching_ci_zh.md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Git graph based on the actual repository history. Explain the main and qa branches, feature work, the conflict-resolution merge, the revert, and the reapply. This directly follows the course PDF's instruction to bring process visuals such as a git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--oneline --decorate --graph --all --max-count=24</a:t>
            </a:r>
          </a:p>
          <a:p xmlns:a="http://schemas.openxmlformats.org/drawingml/2006/main">
            <a:r>
              <a:t>- docs/guideline/references/team-project-rules-process.pdf</a:t>
            </a:r>
          </a:p>
          <a:p xmlns:a="http://schemas.openxmlformats.org/drawingml/2006/main">
            <a:r>
              <a:t>- docs/guideline/project/git_branching_ci_zh.md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bridge into live demo. It keeps the screen uncluttered and product-styled. The current qa branch includes holdings list, create, and delete endpoints; the UI/demo route should show the journey rather than API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docs/demo/demo-script.md</a:t>
            </a:r>
          </a:p>
          <a:p xmlns:a="http://schemas.openxmlformats.org/drawingml/2006/main">
            <a:r>
              <a:t>- docs/design/lanhu/README.md</a:t>
            </a:r>
          </a:p>
          <a:p xmlns:a="http://schemas.openxmlformats.org/drawingml/2006/main">
            <a:r>
              <a:t>- frontend/src/App.tsx</a:t>
            </a:r>
          </a:p>
          <a:p xmlns:a="http://schemas.openxmlformats.org/drawingml/2006/main">
            <a:r>
              <a:t>- frontend/src/components/DashboardPage.tsx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technical slide short. Explain why BigDecimal, price statuses, and partial valuation matter to the product. This is the point where technical implementation reinforces customer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docs/guideline/project/api_documentation_zh.md</a:t>
            </a:r>
          </a:p>
          <a:p xmlns:a="http://schemas.openxmlformats.org/drawingml/2006/main">
            <a:r>
              <a:t>- backend/src/main/java/com/holdhive/portfolio/domain/PortfolioCalculator.java</a:t>
            </a:r>
          </a:p>
          <a:p xmlns:a="http://schemas.openxmlformats.org/drawingml/2006/main">
            <a:r>
              <a:t>- backend/src/test/java/com/holdhive/portfolio/domain/PortfolioCalculatorTest.java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follows the rule PDF: mistakes included. Use the actual git history as evidence for merge conflict recovery. Then explain bugs as learning moments: unknown prices, API contract drift, and live-demo risk were handled through clearer states and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--oneline --decorate --graph --all --max-count=24</a:t>
            </a:r>
          </a:p>
          <a:p xmlns:a="http://schemas.openxmlformats.org/drawingml/2006/main">
            <a:r>
              <a:t>- docs/guideline/references/team-project-rules-process.pdf</a:t>
            </a:r>
          </a:p>
          <a:p xmlns:a="http://schemas.openxmlformats.org/drawingml/2006/main">
            <a:r>
              <a:t>- docs/guideline/project/technology_stack_zh.md</a:t>
            </a:r>
          </a:p>
          <a:p xmlns:a="http://schemas.openxmlformats.org/drawingml/2006/main">
            <a:r>
              <a:t>- docs/demo/demo-script.md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links the project to the rules PDF and GenAI guidance. Verification mattered more than simply generating code. Mention backend unit tests, frontend build/test, acceptance checklist, PR review, and human explainability.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docs/guideline/references/team-project-rules-process.pdf</a:t>
            </a:r>
          </a:p>
          <a:p xmlns:a="http://schemas.openxmlformats.org/drawingml/2006/main">
            <a:r>
              <a:t>- docs/guideline/references/use-of-genai.md</a:t>
            </a:r>
          </a:p>
          <a:p xmlns:a="http://schemas.openxmlformats.org/drawingml/2006/main">
            <a:r>
              <a:t>- docs/qa/acceptance-checklist.md</a:t>
            </a:r>
          </a:p>
          <a:p xmlns:a="http://schemas.openxmlformats.org/drawingml/2006/main">
            <a:r>
              <a:t>- docs/qa/api-test-cases.md</a:t>
            </a:r>
          </a:p>
          <a:p xmlns:a="http://schemas.openxmlformats.org/drawingml/2006/main">
            <a:r>
              <a:t>- docs/qa/defect-log.md</a:t>
            </a:r>
          </a:p>
          <a:p xmlns:a="http://schemas.openxmlformats.org/drawingml/2006/main">
            <a:r>
              <a:t>- backend/pom.xml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user's request to include the learning process. Keep it reflective: what the team learned about product design, technical boundaries, Git collaboration, debugging, and disciplined AI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docs/guideline/references/use-of-genai.md</a:t>
            </a:r>
          </a:p>
          <a:p xmlns:a="http://schemas.openxmlformats.org/drawingml/2006/main">
            <a:r>
              <a:t>- docs/guideline/project/technology_stack_zh.md</a:t>
            </a:r>
          </a:p>
          <a:p xmlns:a="http://schemas.openxmlformats.org/drawingml/2006/main">
            <a:r>
              <a:t>- docs/guideline/project/git_branching_ci_zh.md</a:t>
            </a:r>
          </a:p>
          <a:p xmlns:a="http://schemas.openxmlformats.org/drawingml/2006/main">
            <a:r>
              <a:t>- docs/adr/ADR-001-technology-stack.md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core discipline: prove P0 before adding P1/P2. Current qa has holdings CRUD endpoints, so the next work is end-to-end demo rehearsal, QA documentation sync, then fund exposure and AI brief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docs/guideline/project/team_project_guideline_zh.md</a:t>
            </a:r>
          </a:p>
          <a:p xmlns:a="http://schemas.openxmlformats.org/drawingml/2006/main">
            <a:r>
              <a:t>- docs/guideline/project/api_documentation_zh.md</a:t>
            </a:r>
          </a:p>
          <a:p xmlns:a="http://schemas.openxmlformats.org/drawingml/2006/main">
            <a:r>
              <a:t>- docs/qa/acceptance-checklist.md</a:t>
            </a:r>
          </a:p>
          <a:p xmlns:a="http://schemas.openxmlformats.org/drawingml/2006/main">
            <a:r>
              <a:t>- docs/qa/api-test-cases.md</a:t>
            </a:r>
          </a:p>
          <a:p xmlns:a="http://schemas.openxmlformats.org/drawingml/2006/main">
            <a:r>
              <a:t>- backend/src/main/java/com/holdhive/portfolio/api/HoldingController.java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4655a5f9a43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ae41215b34211" /><Relationship Type="http://schemas.openxmlformats.org/officeDocument/2006/relationships/slideLayout" Target="/ppt/slideLayouts/slideLayout1.xml" Id="R808e14dc1f8343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e14dc1f8343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2e825b78f4cd5" /><Relationship Type="http://schemas.openxmlformats.org/officeDocument/2006/relationships/image" Target="/ppt/media/image.png" Id="Rd6a02e84ace14475" /><Relationship Type="http://schemas.openxmlformats.org/officeDocument/2006/relationships/notesSlide" Target="/ppt/notesSlides/notesSlide1.xml" Id="R5b52ec4263bb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1cc417b654a9d" /><Relationship Type="http://schemas.openxmlformats.org/officeDocument/2006/relationships/notesSlide" Target="/ppt/notesSlides/notesSlide2.xml" Id="R23d69258130d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249bb04354665" /><Relationship Type="http://schemas.openxmlformats.org/officeDocument/2006/relationships/notesSlide" Target="/ppt/notesSlides/notesSlide3.xml" Id="R93446c800056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cb71c808545fc" /><Relationship Type="http://schemas.openxmlformats.org/officeDocument/2006/relationships/notesSlide" Target="/ppt/notesSlides/notesSlide4.xml" Id="Ra3e7b077e7b846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6d82d67a04df9" /><Relationship Type="http://schemas.openxmlformats.org/officeDocument/2006/relationships/image" Target="/ppt/media/image2.png" Id="R09bebccb74544f02" /><Relationship Type="http://schemas.openxmlformats.org/officeDocument/2006/relationships/notesSlide" Target="/ppt/notesSlides/notesSlide5.xml" Id="Ra4d4e3edd72347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72b8ba22845b0" /><Relationship Type="http://schemas.openxmlformats.org/officeDocument/2006/relationships/notesSlide" Target="/ppt/notesSlides/notesSlide6.xml" Id="Rd6e9efd3ab2c4a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63af27a5e4bfa" /><Relationship Type="http://schemas.openxmlformats.org/officeDocument/2006/relationships/notesSlide" Target="/ppt/notesSlides/notesSlide7.xml" Id="R66d13a20ef334b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9105711934c0c" /><Relationship Type="http://schemas.openxmlformats.org/officeDocument/2006/relationships/notesSlide" Target="/ppt/notesSlides/notesSlide8.xml" Id="R18f0ddd7edaa41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7a70bdcb44a47" /><Relationship Type="http://schemas.openxmlformats.org/officeDocument/2006/relationships/notesSlide" Target="/ppt/notesSlides/notesSlide9.xml" Id="R78285f6783374b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662a7b6704599" /><Relationship Type="http://schemas.openxmlformats.org/officeDocument/2006/relationships/image" Target="/ppt/media/image3.png" Id="Rc6d3a98a114d45c4" /><Relationship Type="http://schemas.openxmlformats.org/officeDocument/2006/relationships/image" Target="/ppt/media/image4.png" Id="R0899fbdac2af466a" /><Relationship Type="http://schemas.openxmlformats.org/officeDocument/2006/relationships/image" Target="/ppt/media/image5.png" Id="R131bba44a063496b" /><Relationship Type="http://schemas.openxmlformats.org/officeDocument/2006/relationships/image" Target="/ppt/media/image6.png" Id="R730b3ed2d6c7415f" /><Relationship Type="http://schemas.openxmlformats.org/officeDocument/2006/relationships/notesSlide" Target="/ppt/notesSlides/notesSlide10.xml" Id="Rde8b8d5d034846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ed8f9e13d4cc5" /><Relationship Type="http://schemas.openxmlformats.org/officeDocument/2006/relationships/notesSlide" Target="/ppt/notesSlides/notesSlide11.xml" Id="Rcd6c4fd9c9e345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b3520ca194e8b" /><Relationship Type="http://schemas.openxmlformats.org/officeDocument/2006/relationships/notesSlide" Target="/ppt/notesSlides/notesSlide12.xml" Id="R933113e1748e4f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b18756f084d39" /><Relationship Type="http://schemas.openxmlformats.org/officeDocument/2006/relationships/notesSlide" Target="/ppt/notesSlides/notesSlide13.xml" Id="R460d51729da241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a304b8aec4642" /><Relationship Type="http://schemas.openxmlformats.org/officeDocument/2006/relationships/notesSlide" Target="/ppt/notesSlides/notesSlide14.xml" Id="Ra87df01181c540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dd59581a40b4" /><Relationship Type="http://schemas.openxmlformats.org/officeDocument/2006/relationships/notesSlide" Target="/ppt/notesSlides/notesSlide15.xml" Id="R34936593688242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A683E-3F63-4C8E-8AC6-A45ABF1C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838200"/>
            <a:ext cx="2095500" cy="2095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32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B721A-38D6-4526-80F7-1BCA1EA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95800"/>
            <a:ext cx="1809750" cy="18097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321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02e84ace14475"/>
          <a:stretch xmlns:a="http://schemas.openxmlformats.org/drawingml/2006/main"/>
        </p:blipFill>
        <p:spPr>
          <a:xfrm xmlns:a="http://schemas.openxmlformats.org/drawingml/2006/main">
            <a:off x="866775" y="746161"/>
            <a:ext cx="4667250" cy="197477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F9CAD-15F6-4B92-948B-B9BB76B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One hive for scattered holdings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2F2BC-4B19-491E-B1CE-B009CB5E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243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A product and process story, not just a feature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729E7-A8EC-4BED-9FE2-B2BFDEE8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EAA8B-B93C-4323-B64C-6B8497E9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Final 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B81B2-0352-4DAF-9F33-EC61F01D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76800"/>
            <a:ext cx="1924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A94D-3596-43B4-81BA-7F56E5E4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339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15-20 min team 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3E0-2540-4918-96CF-9980CD0B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53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2026-07-28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82DB8-1C56-40F7-A2B6-F85FAE2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E2B0E-08AB-411C-AF69-A44F6C8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7403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23F28-84FC-484F-9449-72F787AF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PRESENTATION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E36C7-627D-418B-847A-C85B456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The rules changed what we chose to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5D96-FDAE-47C2-BB6A-1B7DCC17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383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C690E-A58F-46DB-8B0E-C8C02888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690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71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E743C-96C9-446B-BCA7-AD7C3A1E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One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CF8AA-22ED-4B15-B6AC-1F632141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per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39EB7-1012-404F-9869-74B26D4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0383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2E265-1E8A-46F0-96C4-5F1BBD11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7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A3E45-3E22-4FAA-AC78-9D0B886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9F45B-CED0-4C09-A84D-90615E0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over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AEDA1-2DD8-455E-A0E0-F87E926E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0383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58A53-E340-4ED5-8850-841D43FB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7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8A00B-DC94-4127-9CB4-BA946D7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Git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D9C2D-3ED5-4790-8AA5-D7B4C11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as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87637-5030-4655-81A1-A2F89FFF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0383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BDBBD-ADB5-456A-A952-FE73F1AD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6690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7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0EF0F-0AAA-4A83-B567-E2AC2D8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Mistakes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67A58-A90B-474B-B971-3EB8C9EE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E13A0-5255-4475-8E74-50793C1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7810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925D1-C195-4999-91B3-525E5E4E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4340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We are being judged on the process as much as the result.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738EB-160F-4A62-98C7-84B8A4BC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2440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So this deck follows the build story: product decisions -&gt; implementation -&gt; recovery -&gt; learning.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AD5DD-A9AD-414A-8D8E-290EDFD4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CF01B-041B-4CF7-BCF7-92A76FF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7773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068AC7-D4A2-4E47-A911-8EBBC37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CUSTOMER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8A783-FFE3-4E81-AD9A-3B8F295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Alex had prices, but not a portfolio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226F6-4AD0-4B33-9B52-6DCE83E7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4D3"/>
                </a:solidFill>
                <a:latin typeface="Aptos"/>
                <a:ea typeface="Aptos"/>
                <a:cs typeface="Aptos"/>
              </a:rPr>
              <a:t>Our customer story starts with a beginner investor holding assets across several apps.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DE30E-A216-43D4-B9DD-C642EF3A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619250" cy="16192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78DAA-0502-45DC-8815-CD1B95D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38B8F-9C82-4EDF-8D80-47B0BC9F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219F5-A261-417A-9132-01D1FC5A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525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Stocks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00DAA-8984-4574-81E5-1E5EB2C5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097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single prices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548C8-E677-492D-999E-7022DE79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0B8DF-FCB8-4097-8FCA-DC35D57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383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ETF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74723-6E35-4DD1-9788-77BA3603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overlap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55281-308C-4962-97B7-428C631A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E1B3D-71B7-4D0E-90BC-30F0AEC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765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Mutual 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171C1-F624-416B-A453-4C06D0B6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lagging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46C1C-BEBB-4BC5-AC99-807BA72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03BC4-EAC2-4A0E-A57B-54CD5E2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053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Crypto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266A0-0EB7-42F2-ACBC-9B3FE059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demo/cache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472BD-C687-4F55-9ECF-A7F2360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ACE10-54C5-43E4-9EDD-FD7543E6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Cash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BD234-8C27-402E-8B9C-4E518A71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962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fixed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E7F42-02F8-4840-A6C3-D4BB154F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29842-1224-460A-9342-05AF0D80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Bank deposit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D2A83-C8DF-481B-861A-B7168ADA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principal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2DBB4-49B3-4BDB-B2BD-842B09D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925D6-22B2-4B89-A75A-469BE982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He could see individual prices.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6581F-26FE-4B59-9E23-1696FB7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85E78-E149-43F7-A4CF-06CC560A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He could not answer the whole-portfolio questions.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E6547-87AE-41E3-B936-64F05A9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F2DE3F-AAA3-4EAB-AC15-F208899C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HoldHive became the one-minute snapshot.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A77A4-FDD4-46B3-AD00-BFADA20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BAF65-8C56-4983-83D3-DFB7F4D1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6347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7B942-9BCC-405D-BC79-D55C1763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USER STORY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DA7DC-170C-4092-B41B-12DD7B7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User stories kept the scope honest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C29E9-E8B7-4F50-94CF-24C153D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We treated each story as a promise we could demonstrate and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E1106-49D1-477B-AF25-32A6AF3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267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2E673-4948-4DB3-A77D-3912127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D99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F2EDC-2A35-475C-9E7E-9698D41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HH-01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4CFB-DFB0-43D9-99AC-72981DFF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812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Browse holdings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96CC2-58B7-4970-9AB0-25278A3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As Alex, I want one list of assets so I can stop switching apps.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722D8-D891-4FB9-814B-DE1E88D5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19300"/>
            <a:ext cx="4267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3CF86-5C89-4065-B7F6-890DFEE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D997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0C830-F4F8-45B1-ACB8-D8B303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HH-02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C99EE-0F09-4023-ABA8-9B149F1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812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Add a holding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75E21-3296-41EA-9CA2-618E64E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As Alex, I want a simple form so my first portfolio takes minutes.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56DCA-75D5-4EEF-9F08-2C748D6C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267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79B0F-BAA0-4230-8AB3-DAFA6B99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D997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867CC-7E32-419C-8BFF-0FEBDE41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HH-04/05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7EE1D-BBBE-4A18-8D8D-9918A2A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861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Understand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DAFB2-09FD-49B5-8780-460E3E5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As Alex, I want summary and allocation so I can see the whole picture.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8339D-5CFC-4ECB-901D-FE90A357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24250"/>
            <a:ext cx="4267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8987A-36FE-4633-A9BD-6F1CCD9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D997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BC005-AD95-4E77-8D9C-D3A8F659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HH-06/10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617D-91C2-4736-8F68-35C89E06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861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Trust the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E1BC5-EC2B-4783-921E-3460300D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As Alex, I want price status and fund warnings so I know the limits.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8D9DE-DBA8-4830-B513-44F743F9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57800"/>
            <a:ext cx="6877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A2C3D-01A9-4CCD-96DA-6987390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Stories set the MVP; stretch ideas waited.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F6705-E7F9-4BB3-9F7C-C0587AFD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93410-A949-4A2C-A628-E6F1AA7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001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A212B-CC9B-4554-9C1D-003C2AA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PRODUCT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27272-380C-4321-B558-4EA23EF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Product design translated stories into screens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ebccb74544f02"/>
          <a:srcRect xmlns:a="http://schemas.openxmlformats.org/drawingml/2006/main" l="0" t="48" r="0" b="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428750"/>
            <a:ext cx="5295900" cy="37623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748D5-707B-46C3-8FEE-DD6E0966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3619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A5EE5-4B4A-4142-9EFF-6D8189E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573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5EA79-72EF-4003-8401-C9ACDFF2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38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Dashboard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9FD7B-1E87-4561-BEFE-92ED8A7A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summary before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B6C70-9FBC-4BC8-B367-9A0A659B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3619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A2FA5-3137-43BA-A191-56BB19BF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B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ECCA2-80E7-4EF6-8865-F40352A7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Visible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5CBED-80E3-40C8-B49F-AE8DAB07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demo / fixed / unavailable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42C00-286D-42EE-BDC5-5E3C29B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3619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241D6-2D22-4A5C-8E09-DF0B019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2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0250D-BE58-4038-B30D-5B53D391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Fund 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BB41D-66FD-42BA-B4D7-5D420DEC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lookthrough stays separate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D0FD-6061-492A-BFEC-9EFECC3C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52900"/>
            <a:ext cx="3619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B5977-74B4-450F-8A4D-6295DAF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6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B2130-3F2B-4D3C-B033-7D33686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Recovery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79182-3E8C-43B6-B7D5-094CE98F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failure is explainable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07903-E1AE-4792-A519-95956BE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43550"/>
            <a:ext cx="7124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527B1-0BAA-4CC0-B41F-A5BFA43C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643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The UI made financial trust visible, not hidden in assumptions.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DD2DE-006E-493D-B5A2-645F3D5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055FC-66D7-404C-A553-21E47CB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5499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262BC-1762-465F-A4BC-32D684D3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TECH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09AF-B9AE-415F-A50B-E310191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We chose tools the team could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0BF5F-38A7-40D7-B156-BFC3A250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57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DC407-0B2A-43C5-BD92-B41A83CC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552450" cy="552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A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E89F7-1152-42C9-AD15-F7E04E9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D9B33-92D8-4789-B854-665A273A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fast UI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F15D5-5C54-4B82-90A4-10B2B0E5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057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0DD4A-8BFC-42D8-908F-C541C41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85950"/>
            <a:ext cx="552450" cy="552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B2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B0458-9C52-4576-B0A9-5DE9A2F4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AC075-FC8E-4A58-8D26-E4E808B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clear REST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971A3-72DC-454B-8CCB-6A0E3F0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057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39461-FD37-490B-8506-98C988A2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552450" cy="552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30735-5FA8-46B6-9FA6-5202243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MySQL + Flyway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6BE66-2FF7-4BE8-8341-4FBB3D4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repeatable data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394C3-DDD7-429A-8B29-B735FBD6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0574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BDFA8-200E-45C3-B872-8806AD2F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85950"/>
            <a:ext cx="552450" cy="552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2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E7E18-EB12-465B-B000-E90DE9B2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JUnit / Vitest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74AC2-4FE0-4578-985F-C97F7199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evidence, not hope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2F929-D875-4610-ABE5-737A4D72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828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0E6BB-5F96-48C1-BB40-A566B261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43400"/>
            <a:ext cx="712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The rule was simple: use boring tools, then document why.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D46C7-E5C8-4B1A-9C0B-E7C77E1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37BFE-0F7B-4651-84D3-8039609B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6863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2D817A-F10E-498C-BB1F-3222E3B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89FFA-CB9F-4A65-B390-2E63FDD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Ownership boundaries kept the work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470B3-BA59-48D5-B5F4-9F03CE7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A54A2-8F12-4868-8AA6-86C7261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457200" cy="4572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8A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4DE6F-88AA-4F6B-A670-EA2A3571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React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9A2DE-A5CD-4F86-82C5-606F65E2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display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D6724-1F93-4C92-8644-0E5EEFA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FA10D-1ED5-4D2C-9BA3-3F914A7C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95EBC-8ED0-419C-A215-943CC90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457200" cy="4572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D3FA4-7E47-432C-BEC1-F878E273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API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1111B-2AE1-4A64-82F0-A8A41DAD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typed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9130E-0DD2-4C69-B7E2-7C6867AD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35F86-73C8-4239-AE78-5EA1ECC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621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3407C-565D-43AF-A321-C89E0A8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14550"/>
            <a:ext cx="457200" cy="4572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97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8D82B-17B2-4553-A499-724F61B1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Spring REST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1EC46-BF8A-4E2B-9D0A-24276FC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HTTP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C6E84-9143-43EF-84CA-33A4876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63066-2225-4D45-B670-FB62568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2A8CF-EFF0-4E25-9E86-5A8596AE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457200" cy="4572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B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7DD69-78F1-4CE6-A167-3C526485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C6976-C04C-4FC4-953A-5A10998F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valuation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C4B8B-DFCA-4AA8-92B8-4D69405A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3400E-439D-4388-90DF-5CEA8F22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1485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BAF17-9DFC-4FDC-902F-7257C776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457200" cy="4572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2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E9C11-45B0-4936-8FC7-CECE4068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Adapters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A3505-97EF-4531-B769-6F6E6D0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38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MySQL + pricing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1E192-2AB5-492A-AC50-0C71EC19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5287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38110-8536-4DC7-BA96-1DE6730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05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Frontend never owns valuation formulas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550177-30CF-44AF-A09A-888B3EF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6722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BFD50-4DB4-492A-AC5C-3EBF6630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Domain has no Spring or database dependency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65AE2E-9A2F-4664-83CB-A4E21BC5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8157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788A1D-877F-4266-B0A3-F55FCD93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Pricing failures do not corrupt holdings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880E3-949F-4E02-957A-C6BA0A33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017A8-D2DB-4A1B-AFFC-21B33CC5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8269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9AEFB-56BC-4333-91F9-5B12035C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ITERATIVE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2C546-09EF-4044-A0A7-845184C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We iterated in four distinct beats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9305-0A8E-4DEF-B088-37CE04EF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57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B17A2-3A49-451E-8A98-FE721C6B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752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2BA2F-4DCC-4639-805A-3D487B84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248D7-0942-4084-AB8E-081FF46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75D30-A5C7-4EFA-A0B4-0F1264C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stories, ADR, skeleton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A836C-73EC-496B-9760-99A6E65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75663-C60C-406B-8E36-28C905B2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1752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51E86-7E6C-4595-BDA7-08C252D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Day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C2680-991E-4006-87E1-73AFD1D7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E2FE9-0434-44E4-9EE4-DC77BA70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62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API, data, screens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83744-4AE0-43A9-9B48-1ED97035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5DE89-375E-499C-A82E-742F6CB6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752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78ED9-4573-43AA-A4DB-04754973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Day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06462-7A8A-43EB-8BB5-714CA1F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1DFFD-929A-48FB-B0D0-C59F3AA4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summary, quotes,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3809E-D22F-43C3-AC87-35818173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52A2C-992B-434D-A27E-FF4ADEF9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52650"/>
            <a:ext cx="1752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CBAF-308B-48C6-B3FA-CEE8BA8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Day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D52BF-8F4D-41A8-975B-AD4BEA6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Stabilise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8C77C-1C81-4298-B61A-4B5A44B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tests, docs, rehearsal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A02F8-E451-45C3-AC4E-E061B51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19650"/>
            <a:ext cx="712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3798D-0B2E-4C6A-8A91-FB5D8BB4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651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The point was not to finish first; it was to make progress visible and explainable.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3232B-A66C-4197-BF71-3C3F131F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00BA5-4EE6-4D55-A43F-25D12915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2632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085625-225F-4C08-B844-2870C70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GIT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94F80-E6D1-409F-8D43-966E72B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The Git graph shows the real teamwork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A9DE3-D299-4A57-B7AC-C7D19C01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84D9A-2EC4-46B8-BE99-CB91C355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32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55451-9FBD-4156-95A7-0C0A3D42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98A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8A1B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896F9-BF71-4B1C-B7E9-5D15754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32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2C52C-E6A4-45E3-864C-5D80A09D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feature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3E050-E27F-4E2C-A9FC-A4298E80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32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C4A45-4E7D-431E-B141-D2E94F39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2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40E23-5F13-493E-8767-C3097B6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716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F24BA-9B86-479D-BB97-BE07D76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288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c36d917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B784B-524C-42C3-B8AB-E2F4C03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71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2CF00-33AD-4FE4-8189-80DB5E30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4940E-642E-46C0-A7FF-42DA3659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716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CA7DC-77A7-4D0F-A74B-132A545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288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8e4126d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F32ED-9A81-44CC-8C48-20290B41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71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04B9B-85AC-495E-B61B-46AEDE97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955EB-15E7-437A-99E0-3DEFF094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F97C1-F576-4613-B234-34B363F2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288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d1190d4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E75B3-ABDF-42BA-8479-62CEB05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71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60AF8-068B-46F1-B50C-3EB272C6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DDD3E-F1AF-4F7D-8E13-FDDAD17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07A6A-30DB-4296-9B61-599E87E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288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36a3d68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0C6F9-621E-460A-8179-676AFAA6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71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F9206-BC40-406F-BC2D-417483BD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6E226-F468-4C65-8C2F-62CE69AE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71650"/>
            <a:ext cx="104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9CAB3-77C6-49ED-9922-C54B480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288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bbc6cd7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D9D3C-6332-4438-AF9D-B7CB3FD3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7167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2D170-87BD-4477-A611-4AF43DA0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B"/>
          </a:solidFill>
          <a:ln xmlns:a="http://schemas.openxmlformats.org/drawingml/2006/main" w="9525">
            <a:solidFill>
              <a:srgbClr val="C98A1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0DE78-EE09-4D48-ADC8-62490B88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95600"/>
            <a:ext cx="102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D6E5E6-8522-4DCE-A54F-27834FE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527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8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A1B"/>
                </a:solidFill>
                <a:latin typeface="Aptos"/>
                <a:ea typeface="Aptos"/>
                <a:cs typeface="Aptos"/>
              </a:rPr>
              <a:t>104802f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9BEF35-BA9A-4DC8-B557-B41AD89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956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pricing base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03903E-CA36-41AE-A147-241DD0BD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B"/>
          </a:solidFill>
          <a:ln xmlns:a="http://schemas.openxmlformats.org/drawingml/2006/main" w="9525">
            <a:solidFill>
              <a:srgbClr val="C98A1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50AFF-078D-42C8-B630-7270BBDD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102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736A30-5BF2-4866-8D65-FCDC5458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8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A1B"/>
                </a:solidFill>
                <a:latin typeface="Aptos"/>
                <a:ea typeface="Aptos"/>
                <a:cs typeface="Aptos"/>
              </a:rPr>
              <a:t>ba2f5f6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F4947-FCDC-4C48-8CE2-1C89AC6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956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summary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9F4CA6-843B-496D-8B54-ECFF0B6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24D"/>
          </a:solidFill>
          <a:ln xmlns:a="http://schemas.openxmlformats.org/drawingml/2006/main" w="9525">
            <a:solidFill>
              <a:srgbClr val="E6B2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A036F0-3FFD-4ED8-8DEF-C750758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19550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80E71F-FC6B-43C3-9660-5A15C37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7670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4ec90f4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958000-CC42-4F49-9B5B-8943021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195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quotes 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5C5B95-F237-4CC2-920D-1EDB362D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24D"/>
          </a:solidFill>
          <a:ln xmlns:a="http://schemas.openxmlformats.org/drawingml/2006/main" w="9525">
            <a:solidFill>
              <a:srgbClr val="E6B2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A01838-EB55-4B6F-B7FF-2EB5D87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8BAB5C-F1B0-4752-946F-CBA090EC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7670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da61953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53EEF9-C2E2-445E-A403-93781FF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195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multi-asset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D3A8C9-8DDA-4C79-9CC0-B6484EB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24D"/>
          </a:solidFill>
          <a:ln xmlns:a="http://schemas.openxmlformats.org/drawingml/2006/main" w="9525">
            <a:solidFill>
              <a:srgbClr val="E6B2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3E3867-9098-4728-8D33-9A97AA2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F8F759-5CF1-4475-9ABD-A3984523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bf1fec4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60A3B0-5666-4199-BACE-2DB01CFF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95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Flyway test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3BCF25-C298-48EA-8CA9-65B109B8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B"/>
          </a:solidFill>
          <a:ln xmlns:a="http://schemas.openxmlformats.org/drawingml/2006/main" w="9525">
            <a:solidFill>
              <a:srgbClr val="C98A1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042D86-7CA8-44FA-950F-11F3A42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990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334695-E584-4607-B694-D881C999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8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8A1B"/>
                </a:solidFill>
                <a:latin typeface="Aptos"/>
                <a:ea typeface="Aptos"/>
                <a:cs typeface="Aptos"/>
              </a:rPr>
              <a:t>3d79a2a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1024AB-EBA3-4926-B0E7-05A1FEA0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95625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merge fix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7FE3E7-3F1C-433D-8A24-C620F92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A12"/>
          </a:solidFill>
          <a:ln xmlns:a="http://schemas.openxmlformats.org/drawingml/2006/main" w="9525">
            <a:solidFill>
              <a:srgbClr val="A96A1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CB28CA-1752-4B8A-B4EF-5BFC111F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9560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601D68-9700-46A5-8B91-88E8B12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527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96A1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6A12"/>
                </a:solidFill>
                <a:latin typeface="Aptos"/>
                <a:ea typeface="Aptos"/>
                <a:cs typeface="Aptos"/>
              </a:rPr>
              <a:t>1f8b727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EF3DA6-6DF5-4D2E-A7CF-0B007EB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revert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8C5326-946B-430B-88BD-64E5D81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704492-63A4-4EFB-B4A7-4989995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95600"/>
            <a:ext cx="876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ABB686-3CF5-4E68-AACB-688E5F8F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609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e024ae8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6A4B25-0828-4B3C-87E9-45A1A54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9562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reapply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8D0132-AA77-4DA1-B1CA-ED8F0602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47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3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7BF6AA-02F8-4199-826E-DEF988CA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89560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24CDBA-1636-4099-B0B9-7218237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9527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6cb6d8c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314185-3E3A-447B-8B4A-745161D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095625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42028C-58E8-4FDF-816D-1816EF62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71A"/>
          </a:solidFill>
          <a:ln xmlns:a="http://schemas.openxmlformats.org/drawingml/2006/main" w="9525">
            <a:solidFill>
              <a:srgbClr val="D9971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BC8F3A-96E2-4B3E-8E08-AD391BCF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50520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E823E2-D185-4369-9577-9089138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5623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2a1d243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0AD3E8-0104-4B20-A830-7E9FD25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05225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QA docs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C0B8F8-8406-4725-B64A-2ED0C13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00200"/>
            <a:ext cx="457200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7A4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38F064-EFE9-4FE6-A3B3-BF07E466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200025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7A4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80A9C3-725D-4842-ABE7-64F7179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8575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7A4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0795D9-9854-4636-890A-558D124B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241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4BE2A2-61C9-4F60-9996-681D1D9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285232-0B9A-445B-8BBE-5E143728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241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971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D47718-175F-4093-90E8-102661ED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704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A06DDA-B38B-4CA4-97DF-1699472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53050"/>
            <a:ext cx="632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History matters: conflict, reapply, CRUD, and QA hardening are visible.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E1C6AB-C880-4996-85F0-411860E2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C060929-4E46-4301-9988-8833C8B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6025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0F255-5A59-4B92-8CAE-3ABD6A1F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A150D-8227-4982-B6CE-B8E5D7B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The demo follows the customer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8C077-19E6-462F-AD9B-FB7FB705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343150" cy="2476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3a98a114d45c4"/>
          <a:srcRect xmlns:a="http://schemas.openxmlformats.org/drawingml/2006/main" l="222" t="0" r="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7716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46C5E-F7D1-419D-8CB9-A04B2B8B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64873-6714-4661-85E5-F7DE833A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81150"/>
            <a:ext cx="2343150" cy="2476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9fbdac2af466a"/>
          <a:srcRect xmlns:a="http://schemas.openxmlformats.org/drawingml/2006/main" l="222" t="0" r="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450" y="17716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F3ADA-2E0B-4535-AE54-375FFEB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EC877-3DBF-40DA-B7BB-4C547ABC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2343150" cy="2476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bba44a063496b"/>
          <a:srcRect xmlns:a="http://schemas.openxmlformats.org/drawingml/2006/main" l="222" t="0" r="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7716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064EF-88FC-4600-BC76-660B6183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Maintain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DBA46-F723-4420-BEFE-9366224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81150"/>
            <a:ext cx="2343150" cy="2476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b3ed2d6c7415f"/>
          <a:srcRect xmlns:a="http://schemas.openxmlformats.org/drawingml/2006/main" l="222" t="0" r="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17716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F5C2E-C04C-43EA-BBDD-D2D9FD4E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099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Recover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9132E-A548-422A-8C7F-34249322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0"/>
            <a:ext cx="7353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21B0B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868EE-9771-4CB2-B7C0-78AADE0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19675"/>
            <a:ext cx="670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Live route: Gateway -&gt; Dashboard -&gt; add/list/delete holdings -&gt; recoverable states.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75E96-0313-411D-8707-936948BD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0C922-F7CC-4F62-8BF6-5D1C7095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0648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26FE4-329B-4B19-B02F-5BC01E17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VALUATION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50561-AFB5-4587-82A9-2F1A6858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Small formulas made the product trustworthy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68782-ABDD-402C-A0E8-BE0169CB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20574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4EF26-CDAF-43B4-866C-79FCD1A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D482-1EBA-4B40-B8A9-926590A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quantity x average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66DD5-FFCC-41F8-88BA-0332EB8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95450"/>
            <a:ext cx="20574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483CF-F87C-4608-A758-59BC6F3B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00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0934B-EC04-41B6-B4AE-5B1F1DF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quantity x current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FDC02-CFC8-4C71-A045-F358A7D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20574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B1D7C-F964-4DEC-88DF-09E7165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P/L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C12D6-3D74-4C88-B637-E5C0BAB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value -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4B43A-9410-4F20-96AA-70DE4EF8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0574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AC87E-57FC-4448-B5FC-66E8398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Allocation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29C2C-288F-49A9-8F4F-73EABD97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value / priced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AF606-C3AD-46BD-834F-B31AA2C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Price statuses are product language.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DC55D-6663-40F3-B77A-C0A1C0C4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LIVE | CACHED | DEMO | FIXED | 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75B51-2E77-4669-AFB1-34D08DA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62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Unknown price is never treated as zero.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29A2F-085A-4C31-AB10-14877266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FD8AC-C234-4F65-8D43-5F4E93D0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6965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FF330-B95B-494D-83C1-A77DB1D1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BUGS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93723-0086-48CE-BD34-2904E4DB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We made mistakes, then made them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8C006-CFC7-4867-9A3C-3DAF941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381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778B8-F066-4F14-8DEA-411211F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A96A1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96A12"/>
                </a:solidFill>
                <a:latin typeface="Aptos"/>
                <a:ea typeface="Aptos"/>
                <a:cs typeface="Aptos"/>
              </a:rPr>
              <a:t>Merge conflict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1C3F1-BE8F-4286-9024-A3D87655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resolved -&gt; reverted -&gt; reapplied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4B21F-703B-448D-8F3A-0064B80C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4381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3332B-C0D4-4784-9F20-F2F3DB0E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Contract drift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D5D55-4665-4E01-A024-21B8B90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DTOs and docs moved together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50B87-433E-48EC-A99D-2612B88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381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7C163-BB18-4B45-B573-9BD75CA7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Price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A0EDC-6AD8-4FFD-979B-47A59A43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partial valuation, not fake 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283E8-1DBE-46EA-93CB-4B7AF739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4381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677B2-9F90-4BD2-B8A8-A3DC909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A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8A1B"/>
                </a:solidFill>
                <a:latin typeface="Aptos"/>
                <a:ea typeface="Aptos"/>
                <a:cs typeface="Aptos"/>
              </a:rPr>
              <a:t>Demo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8F266-4C2D-46C2-9A60-DEB477EA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screenshots and script as backup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B5FE9-E681-4E87-81C8-6A172C0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7677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B01D5-62AC-4798-AE0D-A2464A0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721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The recovery is the project story, not an embarrassment.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16A12-8B3A-472C-8522-03ED6A6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4E81F-C0D9-410D-B87B-8AEE8148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1502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9DDCF-2380-4399-8C52-383DF4D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QUALITY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AFB5E-8D93-4E6F-8BF7-5C5A1858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Done meant checked, not just compiled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4E19D-EA83-49FE-9708-1F41ACD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495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FA2FB-F1A6-48E5-887B-12E014B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B2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BFB21-C3DC-4953-870A-A0D68910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859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Backend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2CB6-9A43-4F15-B480-BE545F8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70%+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B3558-2495-40D9-8F61-08EFCA96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line coverage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38C90-B668-4267-807C-C0C3155E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2495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4BD3D-D0A3-4771-B068-7059E65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240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97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F42E8-B9C3-45F0-920B-D314F57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PR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5E1D2-BBA4-4012-A27D-699E4AB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943FC-15A8-48F5-9D8F-84CE5BD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review before merge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19CB3-61EE-4867-BACB-6C7463F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2495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C35B0-BF91-481B-813C-B35C5880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323850" cy="323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8A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8807D-6F26-45FD-8A43-0A86E6C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Acceptance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9F967-2B47-4E1A-9EFA-EDE5D3C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86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53C50-8073-4B07-AFBD-5E8E618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B2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6B24D"/>
                </a:solidFill>
                <a:latin typeface="Aptos"/>
                <a:ea typeface="Aptos"/>
                <a:cs typeface="Aptos"/>
              </a:rPr>
              <a:t>checklist-driven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F983C-FAF3-40F2-8C6D-DD40F94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3382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D2971-83F1-4D60-A615-25044DE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E6BD"/>
                </a:solidFill>
                <a:latin typeface="Aptos"/>
                <a:ea typeface="Aptos"/>
                <a:cs typeface="Aptos"/>
              </a:rPr>
              <a:t>Tests cover edge cases, not only happy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1ED00-F09A-4484-BB4D-D7F6203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BB621-7E2D-4B17-B853-BC58D2AA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E6BD"/>
                </a:solidFill>
                <a:latin typeface="Aptos"/>
                <a:ea typeface="Aptos"/>
                <a:cs typeface="Aptos"/>
              </a:rPr>
              <a:t>API cases and defect log keep QA visible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A7D5A-800D-4A1E-8266-94EBA9AD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62525"/>
            <a:ext cx="171450" cy="1714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B8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8992F-3B99-4E45-AE13-A2BB3B5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E6BD"/>
                </a:solidFill>
                <a:latin typeface="Aptos"/>
                <a:ea typeface="Aptos"/>
                <a:cs typeface="Aptos"/>
              </a:rPr>
              <a:t>Every member can explain their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598EC-FF63-4A50-BCFC-56EFC78C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A91A6-1362-4A19-9418-832DC44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51378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93DB0-6273-4349-B0B2-DEE32856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NEW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0C4A2-6D45-440B-8ED1-0DE790ED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The main output was what the team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5B570-7C1C-4658-9A9C-4542E676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619250" cy="1638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1FEB-8594-468A-9C9F-3D90AC1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7645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7570A-FDE2-417C-8772-AD03C6C2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709E8-F27E-4F67-A3A1-C28A75FE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scope is a design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945D-19D1-4DF0-BFC5-6D03389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619250" cy="1638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21283-2FAA-4B66-A2BC-FF6E3C22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7645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B2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10F23-6448-40F4-ADD3-AF0246A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60B94-A12E-4F0D-AC8D-E9BC982D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BigDecimal + adapter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72E70-D703-45C6-838C-4C21823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1619250" cy="1638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95773-9246-442F-A407-C804196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7645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A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9D573-6767-4F89-85F3-1B110573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19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47A6A-D811-4AFA-B8B4-CACCA8EE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432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stateful dashboards and charts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C179B-BE3C-49CD-93D6-82BBCFB4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1619250" cy="1638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09A9A-66DC-4102-8998-2E7426A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7645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62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87B01-B0E2-4107-8F29-CF6A2CDC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19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20C7A-40DA-4EF1-A3F0-41ACB5EF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432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conflict recovery is a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323F0-48B8-465D-9F37-01EFE6E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1619250" cy="1638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E32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44CFF-8525-41E6-A0F4-ABC0F58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76450"/>
            <a:ext cx="571500" cy="57150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6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31976-6BC9-4FBF-AFC3-A3CD31AE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19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4D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4D3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594E0-12C4-49B1-9E9F-E57A85B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9C69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C690"/>
                </a:solidFill>
                <a:latin typeface="Aptos"/>
                <a:ea typeface="Aptos"/>
                <a:cs typeface="Aptos"/>
              </a:rPr>
              <a:t>assistant output must be explainable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8A257-563D-4B80-9899-28B156C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We can defend the choices because we documented them.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07715-6A09-4232-BE33-75C942FE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D1B3E-8E2B-43EA-B97A-1135AD06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0917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637EE-3C5C-4C64-9931-2E023FBC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DEB7-E1C7-4951-BA16-435E400B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Next step: prove P0 before adding ambition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DF16-1C3F-44AD-AFD3-EF701B85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F32FE-00F0-423C-95A6-B735792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Prove P0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94F96-C8E5-4849-85C9-EA2BEECC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run CRUD demo end to 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CB034-2351-4B5F-A2FD-E1B155AB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9070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A5540-E64F-4363-9742-FAF6EA1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Harden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B628A-7D28-41CE-9D9D-CAB3774F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full rehearsal + backup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EEB7F-D9C9-4F6D-AA76-372EAF68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D3BB0-8257-4515-8900-369E451F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Sync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F9E24-ABEA-49DC-AD0A-990D00CC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test cases + defect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ED5D8-FBF5-4C02-B79A-BAB4A1E4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1981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5A421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A9B13-602A-43CB-B73D-DF162AE3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7E6B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E6BD"/>
                </a:solidFill>
                <a:latin typeface="Aptos"/>
                <a:ea typeface="Aptos"/>
                <a:cs typeface="Aptos"/>
              </a:rPr>
              <a:t>Expand insight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ED032-CEB9-493B-9DAC-478F6733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B9A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A77A"/>
                </a:solidFill>
                <a:latin typeface="Aptos"/>
                <a:ea typeface="Aptos"/>
                <a:cs typeface="Aptos"/>
              </a:rPr>
              <a:t>fund exposure, then AI brief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27D05-F203-4926-BD05-DA5A846A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638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F5B8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0502F-AB4A-4860-BA7C-ABEEA015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5B8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B83B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AC673-6960-4A03-A528-56444390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F7A4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7A4D"/>
                </a:solidFill>
                <a:latin typeface="Aptos"/>
                <a:ea typeface="Aptos"/>
                <a:cs typeface="Aptos"/>
              </a:rPr>
              <a:t>HoldHive | Final 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1341C-1AA4-4164-A210-7150AF91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00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997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71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11459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2026-07-28T09:16:00.5480000Z</dcterms:created>
  <dcterms:modified xsi:type="dcterms:W3CDTF">2026-07-28T09:16:00.5480000Z</dcterms:modified>
</coreProperties>
</file>